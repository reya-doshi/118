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wrap="square"/>
          <a:lstStyle/>
          <a:p>
            <a:pPr>
              <a:defRPr sz="1400" b="1">
                <a:solidFill>
                  <a:srgbClr val="4F5D4B"/>
                </a:solidFill>
              </a:defRPr>
            </a:pPr>
            <a:r>
              <a:t>SIH 2026 IDEA SUBMISSION · PROBLEM STATEMENT 118</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r>
              <a:rPr b="1" sz="1300">
                <a:solidFill>
                  <a:srgbClr val="292925"/>
                </a:solidFill>
              </a:rPr>
              <a:t>Problem Statement ID:</a:t>
            </a:r>
            <a:r>
              <a:rPr b="1" sz="1300">
                <a:solidFill>
                  <a:srgbClr val="5D5B53"/>
                </a:solidFill>
              </a:rPr>
              <a:t> 118</a:t>
            </a:r>
            <a:endParaRPr lang="en-US" dirty="0"/>
          </a:p>
          <a:p>
            <a:r>
              <a:rPr b="1" sz="1300">
                <a:solidFill>
                  <a:srgbClr val="292925"/>
                </a:solidFill>
              </a:rPr>
              <a:t>Problem Statement Title:</a:t>
            </a:r>
            <a:r>
              <a:rPr b="0" sz="1300">
                <a:solidFill>
                  <a:srgbClr val="5D5B53"/>
                </a:solidFill>
              </a:rPr>
              <a:t> Development of Wearable Wristband for Detection of Toxic Gas (H₂S) with Colorimetric Response &amp; Optical Readout</a:t>
            </a:r>
          </a:p>
          <a:p>
            <a:r>
              <a:rPr b="1" sz="1300">
                <a:solidFill>
                  <a:srgbClr val="292925"/>
                </a:solidFill>
              </a:rPr>
              <a:t>Theme:</a:t>
            </a:r>
            <a:r>
              <a:rPr b="0" sz="1300">
                <a:solidFill>
                  <a:srgbClr val="5D5B53"/>
                </a:solidFill>
              </a:rPr>
              <a:t> Clean &amp; Green Technology / Industrial Safety &amp; Mining</a:t>
            </a:r>
          </a:p>
          <a:p>
            <a:r>
              <a:rPr b="1" sz="1300">
                <a:solidFill>
                  <a:srgbClr val="292925"/>
                </a:solidFill>
              </a:rPr>
              <a:t>PS Category:</a:t>
            </a:r>
            <a:r>
              <a:rPr b="0" sz="1300">
                <a:solidFill>
                  <a:srgbClr val="5D5B53"/>
                </a:solidFill>
              </a:rPr>
              <a:t> Hybrid (Intrinsically Safe Hardware + Edge-AI Software)</a:t>
            </a:r>
          </a:p>
          <a:p>
            <a:r>
              <a:rPr b="1" sz="1300">
                <a:solidFill>
                  <a:srgbClr val="292925"/>
                </a:solidFill>
              </a:rPr>
              <a:t>Team ID:</a:t>
            </a:r>
            <a:r>
              <a:rPr b="0" sz="1300">
                <a:solidFill>
                  <a:srgbClr val="5D5B53"/>
                </a:solidFill>
              </a:rPr>
              <a:t> [Registered Team ID]</a:t>
            </a:r>
          </a:p>
          <a:p>
            <a:r>
              <a:rPr b="1" sz="1300">
                <a:solidFill>
                  <a:srgbClr val="292925"/>
                </a:solidFill>
              </a:rPr>
              <a:t>Team Name:</a:t>
            </a:r>
            <a:r>
              <a:rPr b="1" sz="1300">
                <a:solidFill>
                  <a:srgbClr val="B08A55"/>
                </a:solidFill>
              </a:rPr>
              <a:t> RageB8</a:t>
            </a:r>
          </a:p>
          <a:p>
            <a:r>
              <a:rPr b="1" sz="1300">
                <a:solidFill>
                  <a:srgbClr val="292925"/>
                </a:solidFill>
              </a:rPr>
              <a:t>Project Name:</a:t>
            </a:r>
            <a:r>
              <a:rPr b="0" sz="1300">
                <a:solidFill>
                  <a:srgbClr val="5D5B53"/>
                </a:solidFill>
              </a:rPr>
              <a:t> SARVAS by RageB8 (Self-Actuating Resilient Vapor-Adsorbing Sensor)</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a:defRPr sz="2400" b="1">
                <a:solidFill>
                  <a:srgbClr val="292925"/>
                </a:solidFill>
              </a:defRPr>
            </a:pPr>
            <a:r>
              <a:t>PROPOSED SOLUTION: SARVAS by RageB8</a:t>
            </a:r>
          </a:p>
        </p:txBody>
      </p:sp>
      <p:sp>
        <p:nvSpPr>
          <p:cNvPr id="15362" name="TextBox 8"/>
          <p:cNvSpPr txBox="1">
            <a:spLocks noChangeArrowheads="1"/>
          </p:cNvSpPr>
          <p:nvPr/>
        </p:nvSpPr>
        <p:spPr bwMode="auto">
          <a:xfrm>
            <a:off x="457200" y="1371600"/>
            <a:ext cx="7498079" cy="4754880"/>
          </a:xfrm>
          <a:prstGeom prst="rect">
            <a:avLst/>
          </a:prstGeom>
          <a:noFill/>
          <a:ln w="9525">
            <a:noFill/>
            <a:miter lim="800000"/>
            <a:headEnd/>
            <a:tailEnd/>
          </a:ln>
        </p:spPr>
        <p:txBody>
          <a:bodyPr wrap="square">
            <a:spAutoFit/>
          </a:bodyPr>
          <a:lstStyle/>
          <a:p>
            <a:pPr marL="342900" indent="-342900">
              <a:spcAft>
                <a:spcPts val="600"/>
              </a:spcAft>
              <a:buFont typeface="Wingdings" panose="05000000000000000000" pitchFamily="2" charset="2"/>
              <a:buChar char="v"/>
            </a:pPr>
            <a:r>
              <a:rPr b="1" sz="1150">
                <a:solidFill>
                  <a:srgbClr val="9E2A2B"/>
                </a:solidFill>
              </a:rPr>
              <a:t>• The Silent Industry Hazard:</a:t>
            </a:r>
            <a:r>
              <a:rPr sz="1100" b="0">
                <a:solidFill>
                  <a:srgbClr val="5D5B53"/>
                </a:solidFill>
              </a:rPr>
              <a:t> Electronic detectors only alarm during high leaks (&gt;10 ppm). In reality, refinery and sewer workers breathe 1–9 ppm of toxic H₂S all day. This causes smell fatigue, respiratory illness, and lung damage without any alarm sounding.</a:t>
            </a:r>
            <a:endParaRPr lang="en-US" sz="3200" u="sng" dirty="0">
              <a:solidFill>
                <a:schemeClr val="tx2"/>
              </a:solidFill>
              <a:latin typeface="Arial" pitchFamily="34" charset="0"/>
              <a:cs typeface="Arial" pitchFamily="34" charset="0"/>
            </a:endParaRPr>
          </a:p>
          <a:p>
            <a:pPr>
              <a:spcAft>
                <a:spcPts val="600"/>
              </a:spcAft>
            </a:pPr>
            <a:r>
              <a:rPr b="1" sz="1150">
                <a:solidFill>
                  <a:srgbClr val="4F5D4B"/>
                </a:solidFill>
              </a:rPr>
              <a:t>• 1. Zero-Power Dual-Zone Smart Wristband:</a:t>
            </a:r>
            <a:r>
              <a:rPr sz="1100" b="0">
                <a:solidFill>
                  <a:srgbClr val="5D5B53"/>
                </a:solidFill>
              </a:rPr>
              <a:t> Battery-free wristband with two safe mineral zones: Silver for trace chronic exposure (0.1–10 ppm·h) and Copper for high shift limits (10–160 ppm·h). It forms permanent metal sulfides (Ag₂S &amp; CuS) that never fade over time.</a:t>
            </a:r>
          </a:p>
          <a:p>
            <a:pPr>
              <a:spcAft>
                <a:spcPts val="600"/>
              </a:spcAft>
            </a:pPr>
            <a:r>
              <a:rPr b="1" sz="1150">
                <a:solidFill>
                  <a:srgbClr val="4F5D4B"/>
                </a:solidFill>
              </a:rPr>
              <a:t>• 2. Built-In Color Calibration Target:</a:t>
            </a:r>
            <a:r>
              <a:rPr sz="1100" b="0">
                <a:solidFill>
                  <a:srgbClr val="5D5B53"/>
                </a:solidFill>
              </a:rPr>
              <a:t> Printed gray and white reference color swatches right next to the sensor strips allow any smartphone camera to automatically adjust for yellow sodium lamps, dark plant lighting, or bright sunlight.</a:t>
            </a:r>
          </a:p>
          <a:p>
            <a:pPr>
              <a:spcAft>
                <a:spcPts val="600"/>
              </a:spcAft>
            </a:pPr>
            <a:r>
              <a:rPr b="1" sz="1150">
                <a:solidFill>
                  <a:srgbClr val="4F5D4B"/>
                </a:solidFill>
              </a:rPr>
              <a:t>• 3. Instant Seal-Breach &amp; Dirt Protection:</a:t>
            </a:r>
            <a:r>
              <a:rPr sz="1100" b="0">
                <a:solidFill>
                  <a:srgbClr val="5D5B53"/>
                </a:solidFill>
              </a:rPr>
              <a:t> A smart visual dot stays chalk-white when sealed and turns blue if moisture leaks before use, rejecting damaged badges. A breathable outer membrane allows gas in while repelling water, dust, and oil splashes.</a:t>
            </a:r>
          </a:p>
          <a:p>
            <a:pPr>
              <a:spcAft>
                <a:spcPts val="600"/>
              </a:spcAft>
            </a:pPr>
            <a:r>
              <a:rPr b="1" sz="1150">
                <a:solidFill>
                  <a:srgbClr val="4F5D4B"/>
                </a:solidFill>
              </a:rPr>
              <a:t>• 4. Fast Kiosk &amp; Mobile Scan at Shift End:</a:t>
            </a:r>
            <a:r>
              <a:rPr sz="1100" b="0">
                <a:solidFill>
                  <a:srgbClr val="5D5B53"/>
                </a:solidFill>
              </a:rPr>
              <a:t> Workers scan their wristband at the exit turnstile kiosk or on a mobile phone in under 3 seconds. The system immediately calculates the shift dose and logs compliant audit records for safety officers.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t>RageB8</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5363" name="Picture 15362" descr="band design.png"/>
          <p:cNvPicPr>
            <a:picLocks noChangeAspect="1"/>
          </p:cNvPicPr>
          <p:nvPr/>
        </p:nvPicPr>
        <p:blipFill>
          <a:blip r:embed="rId4"/>
          <a:stretch>
            <a:fillRect/>
          </a:stretch>
        </p:blipFill>
        <p:spPr>
          <a:xfrm>
            <a:off x="8138160" y="1645920"/>
            <a:ext cx="3749039" cy="24993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a:defRPr sz="2400" b="1">
                <a:solidFill>
                  <a:srgbClr val="292925"/>
                </a:solidFill>
              </a:defRPr>
            </a:pPr>
            <a:r>
              <a:t>TECHNICAL APPROACH &amp; SYSTEM ARCHITECTURE</a:t>
            </a:r>
          </a:p>
        </p:txBody>
      </p:sp>
      <p:sp>
        <p:nvSpPr>
          <p:cNvPr id="17410" name="TextBox 8"/>
          <p:cNvSpPr txBox="1">
            <a:spLocks noChangeArrowheads="1"/>
          </p:cNvSpPr>
          <p:nvPr/>
        </p:nvSpPr>
        <p:spPr bwMode="auto">
          <a:xfrm>
            <a:off x="457200" y="1371600"/>
            <a:ext cx="11247120" cy="4754880"/>
          </a:xfrm>
          <a:prstGeom prst="rect">
            <a:avLst/>
          </a:prstGeom>
          <a:noFill/>
          <a:ln w="9525">
            <a:noFill/>
            <a:miter lim="800000"/>
            <a:headEnd/>
            <a:tailEnd/>
          </a:ln>
        </p:spPr>
        <p:txBody>
          <a:bodyPr wrap="square">
            <a:spAutoFit/>
          </a:bodyPr>
          <a:lstStyle/>
          <a:p>
            <a:pPr marL="342900" indent="-342900" algn="just">
              <a:spcAft>
                <a:spcPts val="600"/>
              </a:spcAft>
              <a:buFont typeface="Arial" panose="020B0604020202020204" pitchFamily="34" charset="0"/>
              <a:buChar char="•"/>
            </a:pPr>
            <a:r>
              <a:rPr b="1" sz="1150">
                <a:solidFill>
                  <a:srgbClr val="4F5D4B"/>
                </a:solidFill>
              </a:rPr>
              <a:t>1. Stage 1 - Dual-Zone Chemical Sensor:</a:t>
            </a:r>
            <a:r>
              <a:rPr sz="1100" b="0">
                <a:solidFill>
                  <a:srgbClr val="5D5B53"/>
                </a:solidFill>
              </a:rPr>
              <a:t> Dual Silver and Copper reaction pads sealed under a breathable micro-porous membrane. Toxic H₂S gas diffuses in and precipitates permanent, non-fading Ag₂S and CuS minerals, eliminating the fading flaw of organic dyes.</a:t>
            </a:r>
          </a:p>
          <a:p>
            <a:pPr>
              <a:spcAft>
                <a:spcPts val="600"/>
              </a:spcAft>
            </a:pPr>
            <a:r>
              <a:rPr b="1" sz="1150">
                <a:solidFill>
                  <a:srgbClr val="4F5D4B"/>
                </a:solidFill>
              </a:rPr>
              <a:t>2. Stage 2 - Smart Camera Normalization:</a:t>
            </a:r>
            <a:r>
              <a:rPr sz="1100" b="0">
                <a:solidFill>
                  <a:srgbClr val="5D5B53"/>
                </a:solidFill>
              </a:rPr>
              <a:t> Standard mobile or kiosk camera captures the band. The algorithm automatically detects the printed reference scale, corrects for uneven factory lighting, and straightens tilted camera angles.</a:t>
            </a:r>
          </a:p>
          <a:p>
            <a:pPr>
              <a:spcAft>
                <a:spcPts val="600"/>
              </a:spcAft>
            </a:pPr>
            <a:r>
              <a:rPr b="1" sz="1150">
                <a:solidFill>
                  <a:srgbClr val="4F5D4B"/>
                </a:solidFill>
              </a:rPr>
              <a:t>3. Stage 3 - Precision Color Analysis (CIEDE2000):</a:t>
            </a:r>
            <a:r>
              <a:rPr sz="1100" b="0">
                <a:solidFill>
                  <a:srgbClr val="5D5B53"/>
                </a:solidFill>
              </a:rPr>
              <a:t> Computes true perceptual color change (ΔE₀₀) using international color standards. A multi-tier filter automatically rejects non-wristband objects, bare skin, or mud smudges instead of raising false gas alarms.</a:t>
            </a:r>
          </a:p>
          <a:p>
            <a:pPr>
              <a:spcAft>
                <a:spcPts val="600"/>
              </a:spcAft>
            </a:pPr>
            <a:r>
              <a:rPr b="1" sz="1150">
                <a:solidFill>
                  <a:srgbClr val="4F5D4B"/>
                </a:solidFill>
              </a:rPr>
              <a:t>4. Stage 4 - Heat &amp; Humidity Compensation:</a:t>
            </a:r>
            <a:r>
              <a:rPr sz="1100" b="0">
                <a:solidFill>
                  <a:srgbClr val="5D5B53"/>
                </a:solidFill>
              </a:rPr>
              <a:t> Dynamic thermodynamic model automatically normalizes for tropical heat (15°C to 45°C) and moisture (20% to 80% RH), guaranteeing identical dosage accuracy across hot summers and coastal refineries.</a:t>
            </a:r>
          </a:p>
          <a:p>
            <a:pPr>
              <a:spcAft>
                <a:spcPts val="600"/>
              </a:spcAft>
            </a:pPr>
            <a:r>
              <a:rPr b="1" sz="1150">
                <a:solidFill>
                  <a:srgbClr val="4F5D4B"/>
                </a:solidFill>
              </a:rPr>
              <a:t>5. Stage 5 - Secure Safety Dashboard &amp; Sync:</a:t>
            </a:r>
            <a:r>
              <a:rPr sz="1100" b="0">
                <a:solidFill>
                  <a:srgbClr val="5D5B53"/>
                </a:solidFill>
              </a:rPr>
              <a:t> Operates 100% offline at the gate. When online, it securely synchronizes worker shift history to the plant dashboard, generating automated DGMS and OSHA regulatory compliance reports.</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t>RageB8</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a:defRPr sz="2400" b="1">
                <a:solidFill>
                  <a:srgbClr val="292925"/>
                </a:solidFill>
              </a:defRPr>
            </a:pPr>
            <a:r>
              <a:t>FEASIBILITY, RISKS &amp; MITIGATION STRATEGIES</a:t>
            </a:r>
          </a:p>
        </p:txBody>
      </p:sp>
      <p:sp>
        <p:nvSpPr>
          <p:cNvPr id="17410" name="TextBox 8"/>
          <p:cNvSpPr txBox="1">
            <a:spLocks noChangeArrowheads="1"/>
          </p:cNvSpPr>
          <p:nvPr/>
        </p:nvSpPr>
        <p:spPr bwMode="auto">
          <a:xfrm>
            <a:off x="457200" y="1371600"/>
            <a:ext cx="11247120" cy="475488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ts val="600"/>
              </a:spcAft>
              <a:buClrTx/>
              <a:buSzTx/>
              <a:buFont typeface="Arial" panose="020B0604020202020204" pitchFamily="34" charset="0"/>
              <a:buChar char="•"/>
              <a:tabLst/>
              <a:defRPr/>
            </a:pPr>
            <a:r>
              <a:rPr b="1" sz="1150">
                <a:solidFill>
                  <a:srgbClr val="4F5D4B"/>
                </a:solidFill>
              </a:rPr>
              <a:t>• High Manufacturing &amp; Cost Feasibility:</a:t>
            </a:r>
            <a:r>
              <a:rPr sz="1100" b="0">
                <a:solidFill>
                  <a:srgbClr val="5D5B53"/>
                </a:solidFill>
              </a:rPr>
              <a:t> Made using standard cellulose paper, safe water-based reagents, and simple band clips. Unit manufacturing cost is under ₹1 (₹0.85) per badge, making 100% daily workforce coverage financially practical.</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a:spcAft>
                <a:spcPts val="600"/>
              </a:spcAft>
            </a:pPr>
            <a:r>
              <a:rPr b="1" sz="1150">
                <a:solidFill>
                  <a:srgbClr val="292925"/>
                </a:solidFill>
              </a:rPr>
              <a:t>• Challenge 1 - Harsh Plant Lighting &amp; Camera Variances:</a:t>
            </a:r>
            <a:r>
              <a:rPr sz="1100" b="0">
                <a:solidFill>
                  <a:srgbClr val="5D5B53"/>
                </a:solidFill>
              </a:rPr>
              <a:t> [Mitigation] Printed on-band reference swatches give the smartphone camera a known baseline, delivering consistent, reliable dosage readings across both budget ₹7,000 Android phones and flagship devices.</a:t>
            </a:r>
          </a:p>
          <a:p>
            <a:pPr>
              <a:spcAft>
                <a:spcPts val="600"/>
              </a:spcAft>
            </a:pPr>
            <a:r>
              <a:rPr b="1" sz="1150">
                <a:solidFill>
                  <a:srgbClr val="292925"/>
                </a:solidFill>
              </a:rPr>
              <a:t>• Challenge 2 - Surface Soot, Grease &amp; Mud Contamination:</a:t>
            </a:r>
            <a:r>
              <a:rPr sz="1100" b="0">
                <a:solidFill>
                  <a:srgbClr val="5D5B53"/>
                </a:solidFill>
              </a:rPr>
              <a:t> [Mitigation] Breathable protective cover repels liquid muck. Furthermore, our optical engine checks the specific color shift of metal sulfides—surface dirt only drops brightness without the chemical hue and is flagged as dirt.</a:t>
            </a:r>
          </a:p>
          <a:p>
            <a:pPr>
              <a:spcAft>
                <a:spcPts val="600"/>
              </a:spcAft>
            </a:pPr>
            <a:r>
              <a:rPr b="1" sz="1150">
                <a:solidFill>
                  <a:srgbClr val="292925"/>
                </a:solidFill>
              </a:rPr>
              <a:t>• Challenge 3 - Common Interfering Gases (SO₂, CO, Methane):</a:t>
            </a:r>
            <a:r>
              <a:rPr sz="1100" b="0">
                <a:solidFill>
                  <a:srgbClr val="5D5B53"/>
                </a:solidFill>
              </a:rPr>
              <a:t> [Mitigation] Silver and copper salts react selectively with sulfides. Common refinery gases like Carbon Monoxide, Methane, and Sulfur Dioxide do not trigger the reaction, preventing false alarms.</a:t>
            </a:r>
          </a:p>
          <a:p>
            <a:pPr>
              <a:spcAft>
                <a:spcPts val="600"/>
              </a:spcAft>
            </a:pPr>
            <a:r>
              <a:rPr b="1" sz="1150">
                <a:solidFill>
                  <a:srgbClr val="292925"/>
                </a:solidFill>
              </a:rPr>
              <a:t>• Challenge 4 - Badge Swapping &amp; Pouch Seal Quality:</a:t>
            </a:r>
            <a:r>
              <a:rPr sz="1100" b="0">
                <a:solidFill>
                  <a:srgbClr val="5D5B53"/>
                </a:solidFill>
              </a:rPr>
              <a:t> [Mitigation] Each band features a unique QR code linked to worker shift records. The built-in moisture dot turns blue if a storage pouch is torn, enabling quick visual rejection before shift start.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t>RageB8</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a:defRPr sz="2400" b="1">
                <a:solidFill>
                  <a:srgbClr val="292925"/>
                </a:solidFill>
              </a:defRPr>
            </a:pPr>
            <a:r>
              <a:t>IMPACT, STATUTORY COMPLIANCE &amp; ECONOMIC BENEFITS</a:t>
            </a:r>
          </a:p>
        </p:txBody>
      </p:sp>
      <p:sp>
        <p:nvSpPr>
          <p:cNvPr id="17410" name="TextBox 8"/>
          <p:cNvSpPr txBox="1">
            <a:spLocks noChangeArrowheads="1"/>
          </p:cNvSpPr>
          <p:nvPr/>
        </p:nvSpPr>
        <p:spPr bwMode="auto">
          <a:xfrm>
            <a:off x="457200" y="1371600"/>
            <a:ext cx="11247120" cy="475488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ts val="600"/>
              </a:spcAft>
              <a:buClrTx/>
              <a:buSzTx/>
              <a:buFont typeface="Arial" panose="020B0604020202020204" pitchFamily="34" charset="0"/>
              <a:buChar char="•"/>
              <a:tabLst/>
              <a:defRPr/>
            </a:pPr>
            <a:r>
              <a:rPr b="1" sz="1150">
                <a:solidFill>
                  <a:srgbClr val="4F5D4B"/>
                </a:solidFill>
              </a:rPr>
              <a:t>• 100% Workforce Inclusion (Social &amp; Humanitarian Impact):</a:t>
            </a:r>
            <a:r>
              <a:rPr sz="1100" b="0">
                <a:solidFill>
                  <a:srgbClr val="5D5B53"/>
                </a:solidFill>
              </a:rPr>
              <a:t> Electronic detectors cost ₹30,000–₹1,00,000 each, so plants give them only to 10–15% of permanent staff. At under ₹1 per badge, SARVAS allows refineries to protect 100% of workers, including contract laborers.</a:t>
            </a:r>
          </a:p>
          <a:p>
            <a:pPr>
              <a:spcAft>
                <a:spcPts val="600"/>
              </a:spcAft>
            </a:pPr>
            <a:r>
              <a:rPr b="1" sz="1150">
                <a:solidFill>
                  <a:srgbClr val="4F5D4B"/>
                </a:solidFill>
              </a:rPr>
              <a:t>• Radical Cost Reduction (&gt;85% OPEX Savings):</a:t>
            </a:r>
            <a:r>
              <a:rPr sz="1100" b="0">
                <a:solidFill>
                  <a:srgbClr val="5D5B53"/>
                </a:solidFill>
              </a:rPr>
              <a:t> Eliminates costly sensor-head replacements, toxic span calibration gases, and daily charging docks. For a 2,500-worker facility, SARVAS saves crores of rupees annually while logging continuous personal exposure records.</a:t>
            </a:r>
          </a:p>
          <a:p>
            <a:pPr>
              <a:spcAft>
                <a:spcPts val="600"/>
              </a:spcAft>
            </a:pPr>
            <a:r>
              <a:rPr b="1" sz="1150">
                <a:solidFill>
                  <a:srgbClr val="4F5D4B"/>
                </a:solidFill>
              </a:rPr>
              <a:t>• 100% Intrinsically Safe (ATEX / IECEx Zone 0):</a:t>
            </a:r>
            <a:r>
              <a:rPr sz="1100" b="0">
                <a:solidFill>
                  <a:srgbClr val="5D5B53"/>
                </a:solidFill>
              </a:rPr>
              <a:t> Zero batteries, zero wires, and zero electronic components on the worker's wrist. It carries 0% electrical spark or explosion risk, making it physically safe for the most volatile hydrocarbon fuel tanks.</a:t>
            </a:r>
          </a:p>
          <a:p>
            <a:pPr>
              <a:spcAft>
                <a:spcPts val="600"/>
              </a:spcAft>
            </a:pPr>
            <a:r>
              <a:rPr b="1" sz="1150">
                <a:solidFill>
                  <a:srgbClr val="4F5D4B"/>
                </a:solidFill>
              </a:rPr>
              <a:t>• Statutory Health Compliance (OSHA &amp; DGMS Ready):</a:t>
            </a:r>
            <a:r>
              <a:rPr sz="1100" b="0">
                <a:solidFill>
                  <a:srgbClr val="5D5B53"/>
                </a:solidFill>
              </a:rPr>
              <a:t> Calibrated to international 8-hour shift safety limits (ACGIH 8.0 ppm·h). Generates 1-click official audit records for Indian Directorate General of Mines Safety (DGMS) and factory inspectors.</a:t>
            </a:r>
          </a:p>
          <a:p>
            <a:pPr>
              <a:spcAft>
                <a:spcPts val="600"/>
              </a:spcAft>
            </a:pPr>
            <a:r>
              <a:rPr b="1" sz="1150">
                <a:solidFill>
                  <a:srgbClr val="4F5D4B"/>
                </a:solidFill>
              </a:rPr>
              <a:t>• Validated Across 303 Test Samples:</a:t>
            </a:r>
            <a:r>
              <a:rPr sz="1100" b="0">
                <a:solidFill>
                  <a:srgbClr val="5D5B53"/>
                </a:solidFill>
              </a:rPr>
              <a:t> Extensively validated across 303 laboratory sample points across 10 blocks (varying concentrations, 15–45°C temps, humidity, lighting, and age), achieving high accuracy within ±8% to ±12% of reference values.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t>RageB8</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a:defRPr sz="2400" b="1">
                <a:solidFill>
                  <a:srgbClr val="292925"/>
                </a:solidFill>
              </a:defRPr>
            </a:pPr>
            <a:r>
              <a:t>RESEARCH FOUNDATIONS, STANDARDS &amp; REFERENCES</a:t>
            </a:r>
          </a:p>
        </p:txBody>
      </p:sp>
      <p:sp>
        <p:nvSpPr>
          <p:cNvPr id="17410" name="TextBox 8"/>
          <p:cNvSpPr txBox="1">
            <a:spLocks noChangeArrowheads="1"/>
          </p:cNvSpPr>
          <p:nvPr/>
        </p:nvSpPr>
        <p:spPr bwMode="auto">
          <a:xfrm>
            <a:off x="457200" y="1371600"/>
            <a:ext cx="11247120" cy="475488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ts val="600"/>
              </a:spcAft>
              <a:buClrTx/>
              <a:buSzTx/>
              <a:buFont typeface="Arial" panose="020B0604020202020204" pitchFamily="34" charset="0"/>
              <a:buChar char="•"/>
              <a:tabLst/>
              <a:defRPr/>
            </a:pPr>
            <a:r>
              <a:rPr b="1" sz="1150">
                <a:solidFill>
                  <a:srgbClr val="4F5D4B"/>
                </a:solidFill>
              </a:rPr>
              <a:t>1. Permanent Metal-Sulfide Chemistry: </a:t>
            </a:r>
            <a:r>
              <a:rPr sz="1100" b="0">
                <a:solidFill>
                  <a:srgbClr val="5D5B53"/>
                </a:solidFill>
              </a:rPr>
              <a:t>Engel et al. (Sensors, 2019) demonstrated that organic dyes fade over time in air, whereas inorganic silver and copper salts form permanent, non-fading sulfide precipitates (Ag₂S and CuS) ideal for shift dosimetry.</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a:spcAft>
                <a:spcPts val="600"/>
              </a:spcAft>
            </a:pPr>
            <a:r>
              <a:rPr b="1" sz="1150">
                <a:solidFill>
                  <a:srgbClr val="4F5D4B"/>
                </a:solidFill>
              </a:rPr>
              <a:t>2. Colorimetric Science &amp; Perceptual Tolerances: </a:t>
            </a:r>
            <a:r>
              <a:rPr sz="1100" b="0">
                <a:solidFill>
                  <a:srgbClr val="5D5B53"/>
                </a:solidFill>
              </a:rPr>
              <a:t>ISO/CIE 11664-6:2014, 'Colorimetry — Part 6: CIEDE2000 Colour-Difference Formula' &amp; ISO 11664-2 for lighting-independent perceptual color quantification.</a:t>
            </a:r>
          </a:p>
          <a:p>
            <a:pPr>
              <a:spcAft>
                <a:spcPts val="600"/>
              </a:spcAft>
            </a:pPr>
            <a:r>
              <a:rPr b="1" sz="1150">
                <a:solidFill>
                  <a:srgbClr val="4F5D4B"/>
                </a:solidFill>
              </a:rPr>
              <a:t>3. Occupational Exposure Limits &amp; Health Standards: </a:t>
            </a:r>
            <a:r>
              <a:rPr sz="1100" b="0">
                <a:solidFill>
                  <a:srgbClr val="5D5B53"/>
                </a:solidFill>
              </a:rPr>
              <a:t>ACGIH (2024), 'Threshold Limit Values: H₂S TLV-TWA 1.0 ppm (8.0 ppm·h shift limit), STEL 5.0 ppm' | OSHA 29 CFR 1910.1000 Table Z-2 for toxic gas ceiling limits.</a:t>
            </a:r>
          </a:p>
          <a:p>
            <a:pPr>
              <a:spcAft>
                <a:spcPts val="600"/>
              </a:spcAft>
            </a:pPr>
            <a:r>
              <a:rPr b="1" sz="1150">
                <a:solidFill>
                  <a:srgbClr val="4F5D4B"/>
                </a:solidFill>
              </a:rPr>
              <a:t>4. Indian Statutory Safety Guidelines: </a:t>
            </a:r>
            <a:r>
              <a:rPr sz="1100" b="0">
                <a:solidFill>
                  <a:srgbClr val="5D5B53"/>
                </a:solidFill>
              </a:rPr>
              <a:t>Directorate General of Mines Safety (DGMS) Tech Circular No. 02 of 2019 | Oil Industry Safety Directorate OISD-GDN-166 for personal protective equipment and toxic gas exposure records.</a:t>
            </a:r>
          </a:p>
          <a:p>
            <a:pPr>
              <a:spcAft>
                <a:spcPts val="600"/>
              </a:spcAft>
            </a:pPr>
            <a:r>
              <a:rPr b="1" sz="1150">
                <a:solidFill>
                  <a:srgbClr val="4F5D4B"/>
                </a:solidFill>
              </a:rPr>
              <a:t>5. Direct-Reading Dosimeter Testing Principles: </a:t>
            </a:r>
            <a:r>
              <a:rPr sz="1100" b="0">
                <a:solidFill>
                  <a:srgbClr val="5D5B53"/>
                </a:solidFill>
              </a:rPr>
              <a:t>NIOSH NMAM Method 6013 for hydrogen sulfide sampling and colorimetric measurement on solid sorbent substrates.</a:t>
            </a:r>
          </a:p>
          <a:p>
            <a:pPr>
              <a:spcAft>
                <a:spcPts val="600"/>
              </a:spcAft>
            </a:pPr>
            <a:r>
              <a:rPr b="1" sz="1150">
                <a:solidFill>
                  <a:srgbClr val="4F5D4B"/>
                </a:solidFill>
              </a:rPr>
              <a:t>6. Open Prototype Code &amp; 303-Sample Calibration Dataset: </a:t>
            </a:r>
            <a:r>
              <a:rPr sz="1100" b="0">
                <a:solidFill>
                  <a:srgbClr val="5D5B53"/>
                </a:solidFill>
              </a:rPr>
              <a:t>Live Interactive Prototype, computer vision scanner, and 303-sample calibration matrix: https://github.com/Reya-Doshi/118</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r>
              <a:t>RageB8</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