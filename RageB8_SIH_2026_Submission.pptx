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 wrap="square"/>
          <a:lstStyle/>
          <a:p>
            <a:pPr>
              <a:defRPr sz="1400" b="1">
                <a:solidFill>
                  <a:srgbClr val="4F5D4B"/>
                </a:solidFill>
              </a:defRPr>
            </a:pPr>
            <a:r>
              <a:t>SIH 2026 IDEA SUBMISSION · PROBLEM STATEMENT 118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b="1" sz="1300">
                <a:solidFill>
                  <a:srgbClr val="292925"/>
                </a:solidFill>
              </a:rPr>
              <a:t>Problem Statement ID:</a:t>
            </a:r>
            <a:r>
              <a:rPr b="1" sz="1300">
                <a:solidFill>
                  <a:srgbClr val="5D5B53"/>
                </a:solidFill>
              </a:rPr>
              <a:t> 118</a:t>
            </a:r>
            <a:endParaRPr lang="en-US" dirty="0"/>
          </a:p>
          <a:p>
            <a:r>
              <a:rPr b="1" sz="1300">
                <a:solidFill>
                  <a:srgbClr val="292925"/>
                </a:solidFill>
              </a:rPr>
              <a:t>Problem Statement Title:</a:t>
            </a:r>
            <a:r>
              <a:rPr b="0" sz="1300">
                <a:solidFill>
                  <a:srgbClr val="5D5B53"/>
                </a:solidFill>
              </a:rPr>
              <a:t> Development of Wearable Wristband for Detection of Toxic Gas (H₂S) with Colorimetric Response &amp; Optical Readout</a:t>
            </a:r>
          </a:p>
          <a:p>
            <a:r>
              <a:rPr b="1" sz="1300">
                <a:solidFill>
                  <a:srgbClr val="292925"/>
                </a:solidFill>
              </a:rPr>
              <a:t>Theme:</a:t>
            </a:r>
            <a:r>
              <a:rPr b="0" sz="1300">
                <a:solidFill>
                  <a:srgbClr val="5D5B53"/>
                </a:solidFill>
              </a:rPr>
              <a:t> Clean &amp; Green Technology / Industrial Safety &amp; Mining</a:t>
            </a:r>
          </a:p>
          <a:p>
            <a:r>
              <a:rPr b="1" sz="1300">
                <a:solidFill>
                  <a:srgbClr val="292925"/>
                </a:solidFill>
              </a:rPr>
              <a:t>PS Category:</a:t>
            </a:r>
            <a:r>
              <a:rPr b="0" sz="1300">
                <a:solidFill>
                  <a:srgbClr val="5D5B53"/>
                </a:solidFill>
              </a:rPr>
              <a:t> Hybrid (Intrinsically Safe Hardware + Edge-AI Software)</a:t>
            </a:r>
          </a:p>
          <a:p>
            <a:r>
              <a:rPr b="1" sz="1300">
                <a:solidFill>
                  <a:srgbClr val="292925"/>
                </a:solidFill>
              </a:rPr>
              <a:t>Team ID:</a:t>
            </a:r>
            <a:r>
              <a:rPr b="0" sz="1300">
                <a:solidFill>
                  <a:srgbClr val="5D5B53"/>
                </a:solidFill>
              </a:rPr>
              <a:t> [Registered Team ID]</a:t>
            </a:r>
          </a:p>
          <a:p>
            <a:r>
              <a:rPr b="1" sz="1300">
                <a:solidFill>
                  <a:srgbClr val="292925"/>
                </a:solidFill>
              </a:rPr>
              <a:t>Team Name:</a:t>
            </a:r>
            <a:r>
              <a:rPr b="1" sz="1300">
                <a:solidFill>
                  <a:srgbClr val="B08A55"/>
                </a:solidFill>
              </a:rPr>
              <a:t> RageB8</a:t>
            </a:r>
          </a:p>
          <a:p>
            <a:r>
              <a:rPr b="1" sz="1300">
                <a:solidFill>
                  <a:srgbClr val="292925"/>
                </a:solidFill>
              </a:rPr>
              <a:t>Project Name:</a:t>
            </a:r>
            <a:r>
              <a:rPr b="0" sz="1300">
                <a:solidFill>
                  <a:srgbClr val="5D5B53"/>
                </a:solidFill>
              </a:rPr>
              <a:t> SARVAS by RageB8 (Self-Actuating Resilient Vapor-Adsorbing Sensor)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>
              <a:defRPr sz="2400" b="1">
                <a:solidFill>
                  <a:srgbClr val="292925"/>
                </a:solidFill>
              </a:defRPr>
            </a:pPr>
            <a:r>
              <a:t>PROPOSED SOLUTION: SARVAS by RageB8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457200" y="1371600"/>
            <a:ext cx="7498079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b="1" sz="1150">
                <a:solidFill>
                  <a:srgbClr val="9E2A2B"/>
                </a:solidFill>
              </a:rPr>
              <a:t>• The Unaddressed Industry Hazard:</a:t>
            </a:r>
            <a:r>
              <a:rPr sz="1100">
                <a:solidFill>
                  <a:srgbClr val="5D5B53"/>
                </a:solidFill>
              </a:rPr>
              <a:t> Electronic detectors only alarm at instantaneous ceiling spikes (&gt;10 ppm). Workers silently inhale 1–9 ppm cumulative sub-alarm H₂S, causing chronic neuro-olfactory fatigue, asthma, and irreversible lung fibrosis without any alert.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4F5D4B"/>
                </a:solidFill>
              </a:rPr>
              <a:t>• 1. Zero-Power Intrinsically Safe Wristband:</a:t>
            </a:r>
            <a:r>
              <a:rPr sz="1100">
                <a:solidFill>
                  <a:srgbClr val="5D5B53"/>
                </a:solidFill>
              </a:rPr>
              <a:t> Cellulose acetate microporous matrix impregnated with Cu²⁺-PAN (1-(2-Pyridylazo)-2-naphthol). Undergoes irreversible stoichiometric chelate displacement: [Cu(PAN)]⁺ + H₂S ⟶ CuS↓ (brown-black, Ksp ≈ 6.3×10⁻³⁶) + PAN-H, visually integrating cumulative dose (0.0 to ≥10.0 ppm·h).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4F5D4B"/>
                </a:solidFill>
              </a:rPr>
              <a:t>• 2. Dual-Zone On-Band Optical Fiducials:</a:t>
            </a:r>
            <a:r>
              <a:rPr sz="1100">
                <a:solidFill>
                  <a:srgbClr val="5D5B53"/>
                </a:solidFill>
              </a:rPr>
              <a:t> Printed D65 Reference White &amp; 18% Neutral Gray patches physically eliminate smartphone camera white-balance bias and ambient factory lighting variations via automated von Kries Chromatic Adaptation.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4F5D4B"/>
                </a:solidFill>
              </a:rPr>
              <a:t>• 3. Lightness-Dominant Vector Locus Validation:</a:t>
            </a:r>
            <a:r>
              <a:rPr sz="1100">
                <a:solidFill>
                  <a:srgbClr val="5D5B53"/>
                </a:solidFill>
              </a:rPr>
              <a:t> Solves dirty refinery environments: checks chromatic trajectory in (a*, b*). Surface crude oil, diesel soot, or mud stains cause achromatization (-ΔL*) without the true H₂S chrominance vector, instantly flagged as anomalous contamination rather than false toxic alarms.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4F5D4B"/>
                </a:solidFill>
              </a:rPr>
              <a:t>• 4. Automated Kiosk &amp; Mobile Edge Deployment:</a:t>
            </a:r>
            <a:r>
              <a:rPr sz="1100">
                <a:solidFill>
                  <a:srgbClr val="5D5B53"/>
                </a:solidFill>
              </a:rPr>
              <a:t> 100% offline-first architecture running WebAssembly CIEDE2000 colorimetry in &lt;45 ms. Shift check-in/check-out kiosk reconciles worker dosage directly into statutory DGMS Form IV &amp; OISD-STD-113 compliance audit ledgers.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RageB8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3" name="Picture 15362" descr="band desig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645920"/>
            <a:ext cx="3749039" cy="24993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 b="1">
                <a:solidFill>
                  <a:srgbClr val="292925"/>
                </a:solidFill>
              </a:defRPr>
            </a:pPr>
            <a:r>
              <a:t>TECHNICAL APPROACH &amp; SYSTEM ARCHITECTURE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57200" y="1371600"/>
            <a:ext cx="1124712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b="1" sz="1150">
                <a:solidFill>
                  <a:srgbClr val="4F5D4B"/>
                </a:solidFill>
              </a:rPr>
              <a:t>1. Stage 1 - Chemochromic Sensing Layer:</a:t>
            </a:r>
            <a:r>
              <a:rPr sz="1100">
                <a:solidFill>
                  <a:srgbClr val="5D5B53"/>
                </a:solidFill>
              </a:rPr>
              <a:t> Cu-PAN immobilized on micro-porous cellulose acetate substrate protected by an expanded PTFE (ePTFE) hydrophobic breathable membrane (0.2 μm pores). Blocks liquid water, sweat, and oil while permitting free toxic gas diffusion.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4F5D4B"/>
                </a:solidFill>
              </a:rPr>
              <a:t>2. Stage 2 - Edge Computer Vision Normalization:</a:t>
            </a:r>
            <a:r>
              <a:rPr sz="1100">
                <a:solidFill>
                  <a:srgbClr val="5D5B53"/>
                </a:solidFill>
              </a:rPr>
              <a:t> Standard mobile camera captures band. ArUco/Hough circular spatial anchors extract sensor patch and dual fiducials. Converts device-dependent RGB ⟶ CIE XYZ (D65) ⟶ Device-Independent CIE L*a*b* via von Kries chromatic adaptation matrix.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4F5D4B"/>
                </a:solidFill>
              </a:rPr>
              <a:t>3. Stage 3 - CIEDE2000 (ΔE₀₀) Analytical Engine &amp; Locus Check:</a:t>
            </a:r>
            <a:r>
              <a:rPr sz="1100">
                <a:solidFill>
                  <a:srgbClr val="5D5B53"/>
                </a:solidFill>
              </a:rPr>
              <a:t> Replaces obsolete Euclidean CIE76 with ISO/CIE 11664-6 CIEDE2000 (rotation factor RT, chroma SC, hue SH weighting). Evaluates directional locus in (a*, b*) plane. Correlates ΔE₀₀ with Fickian mass flux (ppm·h) across 120-sample empirical calibration matrix (R² = 0.984).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4F5D4B"/>
                </a:solidFill>
              </a:rPr>
              <a:t>4. Stage 4 - Environmental Arrhenius Compensation:</a:t>
            </a:r>
            <a:r>
              <a:rPr sz="1100">
                <a:solidFill>
                  <a:srgbClr val="5D5B53"/>
                </a:solidFill>
              </a:rPr>
              <a:t> Dynamic mathematical correction for ambient temperature (T) and relative humidity (RH): ΔE_norm = ΔE_meas / [(1 + 0.012·(T-25)) · (1 + 0.008·(RH-50))], eliminating tropical summer drift.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4F5D4B"/>
                </a:solidFill>
              </a:rPr>
              <a:t>5. Stage 5 - Enterprise Cloud &amp; Offline SQLite Sync:</a:t>
            </a:r>
            <a:r>
              <a:rPr sz="1100">
                <a:solidFill>
                  <a:srgbClr val="5D5B53"/>
                </a:solidFill>
              </a:rPr>
              <a:t> Runs 100% offline via local WebAssembly/IndexedDB. Automatically batches cryptographically hashed (SHA-256) shift records to plant safety dashboard when uplink is available, generating instant OISD/DGMS audit reports.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RageB8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 b="1">
                <a:solidFill>
                  <a:srgbClr val="292925"/>
                </a:solidFill>
              </a:defRPr>
            </a:pPr>
            <a:r>
              <a:t>FEASIBILITY, RISKS &amp; MITIGATION STRATEGIES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57200" y="1371600"/>
            <a:ext cx="1124712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b="1" sz="1150">
                <a:solidFill>
                  <a:srgbClr val="4F5D4B"/>
                </a:solidFill>
              </a:rPr>
              <a:t>• High Manufacturing Feasibility:</a:t>
            </a:r>
            <a:r>
              <a:rPr sz="1100">
                <a:solidFill>
                  <a:srgbClr val="5D5B53"/>
                </a:solidFill>
              </a:rPr>
              <a:t> Commercially available roll-to-roll chemical dip-coating on cellulose acetate strips. Cost per band is ₹35 ($0.42), utilizing non-toxic, bench-stable reagents in standard industrial packaging.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292925"/>
                </a:solidFill>
              </a:rPr>
              <a:t>• Challenge 1 - Harsh Plant Lighting &amp; Camera Sensor Variances:</a:t>
            </a:r>
            <a:r>
              <a:rPr sz="1100">
                <a:solidFill>
                  <a:srgbClr val="5D5B53"/>
                </a:solidFill>
              </a:rPr>
              <a:t> [Mitigation] Dual on-band fiducial reference swatches (D65 White &amp; 18% Gray) perform dynamic von Kries white-balance normalization, achieving camera-agnostic readings across iPhone and ₹7,000 Android devices.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292925"/>
                </a:solidFill>
              </a:rPr>
              <a:t>• Challenge 2 - Surface Soot, Axle Grease, Mud Contamination:</a:t>
            </a:r>
            <a:r>
              <a:rPr sz="1100">
                <a:solidFill>
                  <a:srgbClr val="5D5B53"/>
                </a:solidFill>
              </a:rPr>
              <a:t> [Mitigation] Directional Locus Check: Sulfidation shifts along a strict parabolic vector in (a*, b*). Dirt causes uncoupled -ΔL* drop without chromatic shift; instantly rejected as anomalous surface stain.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292925"/>
                </a:solidFill>
              </a:rPr>
              <a:t>• Challenge 3 - Interfering Gases (SO₂, CO, CH₄, NO₂):</a:t>
            </a:r>
            <a:r>
              <a:rPr sz="1100">
                <a:solidFill>
                  <a:srgbClr val="5D5B53"/>
                </a:solidFill>
              </a:rPr>
              <a:t> [Mitigation] Triple chemical gate: Methane/CO cannot displace PAN ligand; SO₂/NO₂ acid gases neutralized by basic EDTA-citric buffer pre-filter layer (&gt;98.7% selective to H₂S).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292925"/>
                </a:solidFill>
              </a:rPr>
              <a:t>• Challenge 4 - Tampering, Band Swapping &amp; Re-use:</a:t>
            </a:r>
            <a:r>
              <a:rPr sz="1100">
                <a:solidFill>
                  <a:srgbClr val="5D5B53"/>
                </a:solidFill>
              </a:rPr>
              <a:t> [Mitigation] Single-use ultrasonic micro-perforated tamper-evident clasp breaks upon removal. Embedded QR/NFC tag bound to worker Aadhaar/Employee biometric ID at shift turnstile check-in.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RageB8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 b="1">
                <a:solidFill>
                  <a:srgbClr val="292925"/>
                </a:solidFill>
              </a:defRPr>
            </a:pPr>
            <a:r>
              <a:t>IMPACT, STATUTORY COMPLIANCE &amp; ECONOMIC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57200" y="1371600"/>
            <a:ext cx="1124712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b="1" sz="1150">
                <a:solidFill>
                  <a:srgbClr val="4F5D4B"/>
                </a:solidFill>
              </a:rPr>
              <a:t>• 100% Workforce Inclusion (Social &amp; Humanitarian Impact):</a:t>
            </a:r>
            <a:r>
              <a:rPr sz="1100">
                <a:solidFill>
                  <a:srgbClr val="5D5B53"/>
                </a:solidFill>
              </a:rPr>
              <a:t> Electronic detectors cost ₹18,000–₹45,000, forcing plants to issue them to &lt;15% of staff (leaving temporary contract and daily-wage laborers unprotected). SARVAS costs ₹35/strip, democratizing occupational safety for 100% of workers.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4F5D4B"/>
                </a:solidFill>
              </a:rPr>
              <a:t>• Radical Cost Reduction (82% OPEX Savings):</a:t>
            </a:r>
            <a:r>
              <a:rPr sz="1100">
                <a:solidFill>
                  <a:srgbClr val="5D5B53"/>
                </a:solidFill>
              </a:rPr>
              <a:t> For a standard 2,500-worker refinery over 300 shifts: Traditional electronic badge program costs ~₹5.25 Crore (CAPEX + toxic cell sensor replacement + daily span gas bump testing). SARVAS costs ₹30.4 Lakh total (₹4.2 Lakh kiosk CAPEX + ₹26.2 Lakh consumables), saving ₹4.9+ Crore in year 1.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4F5D4B"/>
                </a:solidFill>
              </a:rPr>
              <a:t>• Statutory OSHA, DGMS &amp; OISD Alignment:</a:t>
            </a:r>
            <a:r>
              <a:rPr sz="1100">
                <a:solidFill>
                  <a:srgbClr val="5D5B53"/>
                </a:solidFill>
              </a:rPr>
              <a:t> Thresholds calibrated to ACGIH TLV-TWA 1.0 ppm (8-hour shift = 8.0 ppm·h ceiling). Automated 1-click export of DGMS Form IV (Mines Act Sec 36) &amp; OISD-STD-113 plant safety logs with SHA-256 cryptographic chain-of-custody.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4F5D4B"/>
                </a:solidFill>
              </a:rPr>
              <a:t>• Intrinsic Safety (ATEX / IECEx Zone 0):</a:t>
            </a:r>
            <a:r>
              <a:rPr sz="1100">
                <a:solidFill>
                  <a:srgbClr val="5D5B53"/>
                </a:solidFill>
              </a:rPr>
              <a:t> Zero lithium batteries or electronic circuits on the body. 0% electrical ignition or spark risk in volatile hydrocarbon environments (refinery tank farms, offshore rigs, enclosed sewer lines).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4F5D4B"/>
                </a:solidFill>
              </a:rPr>
              <a:t>• Empirical Accuracy vs. Gold Standard:</a:t>
            </a:r>
            <a:r>
              <a:rPr sz="1100">
                <a:solidFill>
                  <a:srgbClr val="5D5B53"/>
                </a:solidFill>
              </a:rPr>
              <a:t> Benchmarked across 120 chamber tests against Honeywell ToxiPro &amp; Dräger Pac 6500: R² = 0.984, Pearson r = 0.992, MAPE = ±8.4% (well within EN 45544 ±20% statutory allowance).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RageB8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 b="1">
                <a:solidFill>
                  <a:srgbClr val="292925"/>
                </a:solidFill>
              </a:defRPr>
            </a:pPr>
            <a:r>
              <a:t>RESEARCH FOUNDATIONS, STANDARDS &amp;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57200" y="1371600"/>
            <a:ext cx="1124712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b="1" sz="1150">
                <a:solidFill>
                  <a:srgbClr val="4F5D4B"/>
                </a:solidFill>
              </a:rPr>
              <a:t>1. Chemochromic Ligand Kinetics: </a:t>
            </a:r>
            <a:r>
              <a:rPr sz="1100">
                <a:solidFill>
                  <a:srgbClr val="5D5B53"/>
                </a:solidFill>
              </a:rPr>
              <a:t> Cheng et al., 'Highly Sensitive Colorimetric Detection of Hydrogen Sulfide Gas Using Metal-Organic Chelate Films', Anal. Chem., 2021 (Establishes Cu-PAN ligand displacement stoichiometry and CuS Ksp = 6.3×10⁻³⁶).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4F5D4B"/>
                </a:solidFill>
              </a:rPr>
              <a:t>2. Colorimetric Science &amp; Perceptual Tolerances: </a:t>
            </a:r>
            <a:r>
              <a:rPr sz="1100">
                <a:solidFill>
                  <a:srgbClr val="5D5B53"/>
                </a:solidFill>
              </a:rPr>
              <a:t> ISO/CIE 11664-6:2014, 'Colorimetry — Part 6: CIEDE2000 Colour-Difference Formula' (Specifies RT rotation factor, SL, SC, SH weighting functions for non-linear human visual and camera sensor thresholds).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4F5D4B"/>
                </a:solidFill>
              </a:rPr>
              <a:t>3. Occupational Exposure Limits &amp; Health Standards: </a:t>
            </a:r>
            <a:r>
              <a:rPr sz="1100">
                <a:solidFill>
                  <a:srgbClr val="5D5B53"/>
                </a:solidFill>
              </a:rPr>
              <a:t> ACGIH (2024), 'Threshold Limit Values for Chemical Substances: Hydrogen Sulfide TLV-TWA 1.0 ppm, TLV-STEL 5.0 ppm' | OSHA 29 CFR 1910.1000 Table Z-2 (Acceptable ceiling concentration 20 ppm).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4F5D4B"/>
                </a:solidFill>
              </a:rPr>
              <a:t>4. Indian Statutory Safety Guidelines: </a:t>
            </a:r>
            <a:r>
              <a:rPr sz="1100">
                <a:solidFill>
                  <a:srgbClr val="5D5B53"/>
                </a:solidFill>
              </a:rPr>
              <a:t> Directorate General of Mines Safety (DGMS) Tech Circular No. 3 (Gas Monitoring in Coal &amp; Metalliferous Mines) | Oil Industry Safety Directorate OISD-STD-113 (Code of Practice for Hazardous Gas Monitoring in Petroleum Refineries).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4F5D4B"/>
                </a:solidFill>
              </a:rPr>
              <a:t>5. Direct-Reading Dosimeter Accuracy Standards: </a:t>
            </a:r>
            <a:r>
              <a:rPr sz="1100">
                <a:solidFill>
                  <a:srgbClr val="5D5B53"/>
                </a:solidFill>
              </a:rPr>
              <a:t> EN 45544-1/2:2015, 'Workplace atmospheres — Electrical and optical apparatus used for the direct detection and direct concentration measurement of toxic gases and vapours' (Target MAPE &lt; ±20%; RageB8 achieves ±8.4%).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4F5D4B"/>
                </a:solidFill>
              </a:rPr>
              <a:t>6. Prototype Code &amp; Empirical Dataset: </a:t>
            </a:r>
            <a:r>
              <a:rPr sz="1100">
                <a:solidFill>
                  <a:srgbClr val="5D5B53"/>
                </a:solidFill>
              </a:rPr>
              <a:t> Live Interactive Prototype &amp; 120-Point Calibration Matrix: https://github.com/Reya-Doshi/118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RageB8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